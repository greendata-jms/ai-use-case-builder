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5818" y="357530"/>
            <a:ext cx="11570817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0">
                <a:solidFill>
                  <a:srgbClr val="494949"/>
                </a:solidFill>
                <a:latin typeface="Calibri"/>
              </a:rPr>
              <a:t>AI Use Case: GitHub Copilot – Developer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83" y="1005840"/>
            <a:ext cx="11712549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576B7"/>
                </a:solidFill>
                <a:latin typeface="Roboto Condensed Light"/>
              </a:rPr>
              <a:t>GitHub Copilot is a strategic imperative for EDDNext, accelerating software delivery and modernizing engineering practice across the enterprise.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347" y="1759305"/>
            <a:ext cx="1880920" cy="1584655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700">
                <a:srgbClr val="2576B7"/>
              </a:gs>
              <a:gs pos="1000">
                <a:srgbClr val="4F93CE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19656"/>
            <a:ext cx="1856231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AI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2139696"/>
            <a:ext cx="178308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GitHub Copilot – AI pair programmer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3043" y="1759305"/>
            <a:ext cx="3628339" cy="31272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03043" y="1759305"/>
            <a:ext cx="3628339" cy="338328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INITIATIVE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130552"/>
            <a:ext cx="3456432" cy="2697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POC to evaluate GitHub Copilot Enterprise across EDDNext engineering teams, assessing its ability to close the software delivery-speed gap and modernize how code is written, reviewed, and shipped.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AI pair programmer: real-time code completion and whole-function suggestions in the IDE.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Copilot Chat for in-editor Q&amp;A, code explanation, and automated test generation.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Agent mode: autonomously researches the repository, plans changes, and opens pull requests for review.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Enterprise fine-tuning on the organization's private codebase, conventions, and internal libraries.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Scope of Implementation: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Pilot with a defined developer cohort on GitHub Enterprise Cloud using managed Copilot accounts.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Establish policy controls, secret scanning, and acceptable-use governance.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494949"/>
                </a:solidFill>
                <a:latin typeface="Roboto Condensed Light"/>
              </a:rPr>
              <a:t>• Measure velocity and quality metrics, then evaluate results &amp; refine the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981" y="3580790"/>
            <a:ext cx="183611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SOLUTION PATH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5526" y="3931920"/>
          <a:ext cx="1818741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8741"/>
              </a:tblGrid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Buy (SaaS subscription – GitHub Enterprise)</a:t>
                      </a:r>
                    </a:p>
                  </a:txBody>
                  <a:tcPr marL="54864" marT="18288" marB="18288">
                    <a:solidFill>
                      <a:srgbClr val="D9D9D9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Build</a:t>
                      </a:r>
                    </a:p>
                  </a:txBody>
                  <a:tcPr marL="54864" marT="18288" marB="18288">
                    <a:solidFill>
                      <a:srgbClr val="DCE6F1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Extend</a:t>
                      </a:r>
                    </a:p>
                  </a:txBody>
                  <a:tcPr marL="54864" marT="18288" marB="18288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09981" y="5112410"/>
            <a:ext cx="183611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9712" y="5148072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MED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19125" y="5449824"/>
          <a:ext cx="1818741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6744"/>
                <a:gridCol w="581997"/>
              </a:tblGrid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Insecure / vulnerable code suggestions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Med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Data privacy &amp; IP governance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High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Shadow AI / unmanaged accounts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Med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12187" y="5112410"/>
            <a:ext cx="3608222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4025" y="5148072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HIGH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412187" y="5449824"/>
          <a:ext cx="358993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1155"/>
                <a:gridCol w="1148779"/>
              </a:tblGrid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AI capabilities required to implement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Low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Risk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Medium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anchor="ctr" lIns="54864" rIns="54864" tIns="27432" bIns="27432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494949"/>
                          </a:solidFill>
                          <a:latin typeface="Roboto Condensed Light"/>
                        </a:rPr>
                        <a:t>Stakeholder support</a:t>
                      </a:r>
                    </a:p>
                  </a:txBody>
                  <a:tcPr marT="18288" marB="18288" marL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r"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494949"/>
                          </a:solidFill>
                          <a:latin typeface="Roboto Condensed Light"/>
                        </a:rPr>
                        <a:t>High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42608" y="3292754"/>
            <a:ext cx="2817266" cy="1638604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2608" y="3292754"/>
            <a:ext cx="2817266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5203" y="3329330"/>
            <a:ext cx="73152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2576B7"/>
                </a:solidFill>
                <a:latin typeface="Montserrat SemiBold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648456"/>
            <a:ext cx="2624328" cy="1289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GitHub Copilot turns everyday coding into an AI-assisted workflow. Controlled studies show up to 55% faster task completion and roughly 75% shorter pull-request cycle time, enabling EDDNext to ship modernization work faster and with higher developer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3514" y="3312871"/>
            <a:ext cx="2572207" cy="1582826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3514" y="3312871"/>
            <a:ext cx="2572207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OTHER EXPECTED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21608"/>
            <a:ext cx="2450592" cy="11430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Success Metrics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Reduction in development cycle time (PR lead time)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Pull requests merged per developer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Developer satisfaction and adoption rate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Code review turnaround and build success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0157" y="5112410"/>
            <a:ext cx="2817266" cy="1273759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0157" y="5112410"/>
            <a:ext cx="2817266" cy="308152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COMPLEXITY/DEPENDENCIES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40680"/>
            <a:ext cx="278892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Dependency: Relies on GitHub Enterprise Cloud and managed Copilot licensing.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• Complexity: Requires governance guardrails: secret scanning, policy controls, and human review of AI-generated code.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3514" y="5112410"/>
            <a:ext cx="2572207" cy="1273759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73514" y="5112410"/>
            <a:ext cx="2572207" cy="308152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PROJECT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5513832"/>
            <a:ext cx="2368296" cy="8412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Business Sponsor: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IT Sponsor: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PM: TBD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94949"/>
                </a:solidFill>
                <a:latin typeface="Roboto Condensed Light"/>
              </a:rPr>
              <a:t>SME: TBD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4729" y="1759305"/>
            <a:ext cx="5630875" cy="1340510"/>
          </a:xfrm>
          <a:prstGeom prst="rect">
            <a:avLst/>
          </a:prstGeom>
          <a:solidFill>
            <a:srgbClr val="FFFFFF"/>
          </a:solidFill>
          <a:ln w="19050">
            <a:solidFill>
              <a:srgbClr val="25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4729" y="1759305"/>
            <a:ext cx="5630875" cy="323697"/>
          </a:xfrm>
          <a:prstGeom prst="rect">
            <a:avLst/>
          </a:prstGeom>
          <a:gradFill rotWithShape="1">
            <a:gsLst>
              <a:gs pos="0">
                <a:srgbClr val="0B233A"/>
              </a:gs>
              <a:gs pos="500">
                <a:srgbClr val="194F7B"/>
              </a:gs>
              <a:gs pos="1000">
                <a:srgbClr val="2576B7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ontserrat SemiBold"/>
              </a:rPr>
              <a:t>DESIRED PROJECT TIMELINE RANGE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22415" y="2249424"/>
          <a:ext cx="5117896" cy="630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491"/>
                <a:gridCol w="426491"/>
                <a:gridCol w="426491"/>
                <a:gridCol w="426491"/>
                <a:gridCol w="426491"/>
                <a:gridCol w="426491"/>
                <a:gridCol w="426491"/>
                <a:gridCol w="426491"/>
                <a:gridCol w="426491"/>
                <a:gridCol w="426491"/>
                <a:gridCol w="426491"/>
                <a:gridCol w="426495"/>
              </a:tblGrid>
              <a:tr h="210312">
                <a:tc gridSpan="12"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494949"/>
                          </a:solidFill>
                          <a:latin typeface="Roboto Condensed Light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0312"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May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Jul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Aug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Sep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Oct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Nov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anchor="ctr" lIns="54864" rIns="54864" tIns="27432" bIns="27432"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sz="900" b="0">
                          <a:solidFill>
                            <a:srgbClr val="494949"/>
                          </a:solidFill>
                          <a:latin typeface="Roboto Condensed Light"/>
                        </a:rPr>
                        <a:t>Dec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Pentagon 33"/>
          <p:cNvSpPr/>
          <p:nvPr/>
        </p:nvSpPr>
        <p:spPr>
          <a:xfrm>
            <a:off x="9081363" y="2679191"/>
            <a:ext cx="2558948" cy="187452"/>
          </a:xfrm>
          <a:prstGeom prst="homePlate">
            <a:avLst/>
          </a:prstGeom>
          <a:gradFill rotWithShape="1">
            <a:gsLst>
              <a:gs pos="0">
                <a:srgbClr val="1B5888"/>
              </a:gs>
              <a:gs pos="500">
                <a:srgbClr val="7FB0DA"/>
              </a:gs>
              <a:gs pos="1000">
                <a:srgbClr val="7FB0D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Roboto"/>
              </a:rPr>
              <a:t>TBD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47672" y="1942185"/>
            <a:ext cx="567842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8685" y="3467404"/>
            <a:ext cx="2056486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903012" y="5305348"/>
            <a:ext cx="2056486" cy="0"/>
          </a:xfrm>
          <a:prstGeom prst="bentConnector3">
            <a:avLst/>
          </a:prstGeom>
          <a:ln w="19050">
            <a:solidFill>
              <a:srgbClr val="257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